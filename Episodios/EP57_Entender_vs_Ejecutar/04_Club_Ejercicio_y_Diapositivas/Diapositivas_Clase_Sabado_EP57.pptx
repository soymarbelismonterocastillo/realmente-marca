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4389120"/>
          </a:xfrm>
          <a:prstGeom prst="rect">
            <a:avLst/>
          </a:prstGeom>
          <a:noFill/>
        </p:spPr>
        <p:txBody>
          <a:bodyPr wrap="square" anchor="ctr">
            <a:spAutoFit/>
          </a:bodyPr>
          <a:lstStyle/>
          <a:p>
            <a:pPr algn="ctr">
              <a:spcAft>
                <a:spcPts val="1600"/>
              </a:spcAft>
              <a:defRPr sz="1600" b="1">
                <a:solidFill>
                  <a:srgbClr val="2AD2C5"/>
                </a:solidFill>
              </a:defRPr>
            </a:pPr>
            <a:r>
              <a:t>REALMENTE CLUB · SESIÓN EN VIVO</a:t>
            </a:r>
          </a:p>
          <a:p>
            <a:pPr algn="ctr">
              <a:spcAft>
                <a:spcPts val="1600"/>
              </a:spcAft>
              <a:defRPr sz="3800" b="1">
                <a:solidFill>
                  <a:srgbClr val="FFFFFF"/>
                </a:solidFill>
              </a:defRPr>
            </a:pPr>
            <a:r>
              <a:t>Tu vida no cambia cuando lo entiendes,</a:t>
            </a:r>
            <a:br/>
            <a:r>
              <a:t>cambia cuando lo ejecutas</a:t>
            </a:r>
          </a:p>
          <a:p>
            <a:pPr algn="ctr">
              <a:defRPr sz="2200" b="1">
                <a:solidFill>
                  <a:srgbClr val="2AD2C5"/>
                </a:solidFill>
              </a:defRPr>
            </a:pPr>
            <a:r>
              <a:t>De la teoría a la acción: Desmantelando los 4 patrones de saboteo</a:t>
            </a:r>
          </a:p>
        </p:txBody>
      </p:sp>
      <p:sp>
        <p:nvSpPr>
          <p:cNvPr id="4" name="TextBox 3"/>
          <p:cNvSpPr txBox="1"/>
          <p:nvPr/>
        </p:nvSpPr>
        <p:spPr>
          <a:xfrm>
            <a:off x="914400" y="5852160"/>
            <a:ext cx="10362895" cy="548640"/>
          </a:xfrm>
          <a:prstGeom prst="rect">
            <a:avLst/>
          </a:prstGeom>
          <a:noFill/>
        </p:spPr>
        <p:txBody>
          <a:bodyPr wrap="none">
            <a:spAutoFit/>
          </a:bodyPr>
          <a:lstStyle/>
          <a:p>
            <a:pPr algn="ctr">
              <a:defRPr sz="1600">
                <a:solidFill>
                  <a:srgbClr val="FFFFFF"/>
                </a:solidFill>
              </a:defRPr>
            </a:pPr>
            <a:r>
              <a:t>Facilitadora: Marbelis Montero  |  Sábado 19 de Septiembre,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REFLEXIÓN DE APERTURA</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Tu Verdadero Punto de Partida Hoy</a:t>
            </a:r>
          </a:p>
        </p:txBody>
      </p:sp>
      <p:sp>
        <p:nvSpPr>
          <p:cNvPr id="5" name="Rounded Rectangle 4"/>
          <p:cNvSpPr/>
          <p:nvPr/>
        </p:nvSpPr>
        <p:spPr>
          <a:xfrm>
            <a:off x="1097280" y="2103120"/>
            <a:ext cx="9966960" cy="365760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i="1">
                <a:solidFill>
                  <a:srgbClr val="FFFFFF"/>
                </a:solidFill>
              </a:defRPr>
            </a:pPr>
            <a:r>
              <a:t>“Saber lo que tienes que hacer y no hacerlo es exactamente lo mismo que no saber nada. Tu vida no cambia con la teoría que entiendes en la cabeza, cambia con la imperfección que te atreves a ejecutar en el mundo real.”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CONCEPTO CLAVE</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La Brecha Entre Entender y Ejecutar</a:t>
            </a:r>
          </a:p>
        </p:txBody>
      </p:sp>
      <p:sp>
        <p:nvSpPr>
          <p:cNvPr id="5" name="TextBox 4"/>
          <p:cNvSpPr txBox="1"/>
          <p:nvPr/>
        </p:nvSpPr>
        <p:spPr>
          <a:xfrm>
            <a:off x="731520" y="1371600"/>
            <a:ext cx="10698480" cy="457200"/>
          </a:xfrm>
          <a:prstGeom prst="rect">
            <a:avLst/>
          </a:prstGeom>
          <a:noFill/>
        </p:spPr>
        <p:txBody>
          <a:bodyPr wrap="none">
            <a:spAutoFit/>
          </a:bodyPr>
          <a:lstStyle/>
          <a:p>
            <a:pPr>
              <a:defRPr sz="2000">
                <a:solidFill>
                  <a:srgbClr val="FFFFFF"/>
                </a:solidFill>
              </a:defRPr>
            </a:pPr>
            <a:r>
              <a:t>Por qué saberlo todo no está cambiando tu vida</a:t>
            </a:r>
          </a:p>
        </p:txBody>
      </p:sp>
      <p:sp>
        <p:nvSpPr>
          <p:cNvPr id="6" name="Rounded Rectangle 5"/>
          <p:cNvSpPr/>
          <p:nvPr/>
        </p:nvSpPr>
        <p:spPr>
          <a:xfrm>
            <a:off x="731520" y="2194560"/>
            <a:ext cx="3291840" cy="393192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2200" b="1">
                <a:solidFill>
                  <a:srgbClr val="FFFFFF"/>
                </a:solidFill>
              </a:defRPr>
            </a:pPr>
            <a:r>
              <a:t>📚 Zona de Confort del Saber</a:t>
            </a:r>
          </a:p>
          <a:p>
            <a:pPr>
              <a:defRPr sz="1900">
                <a:solidFill>
                  <a:srgbClr val="FFFFFF"/>
                </a:solidFill>
              </a:defRPr>
            </a:pPr>
            <a:r>
              <a:t>Creer que acumular información, libros, podcasts y diagnósticos equivale a transformar tu vida real.</a:t>
            </a:r>
          </a:p>
        </p:txBody>
      </p:sp>
      <p:sp>
        <p:nvSpPr>
          <p:cNvPr id="7" name="Rounded Rectangle 6"/>
          <p:cNvSpPr/>
          <p:nvPr/>
        </p:nvSpPr>
        <p:spPr>
          <a:xfrm>
            <a:off x="4297680" y="2194560"/>
            <a:ext cx="3291840" cy="3931920"/>
          </a:xfrm>
          <a:prstGeom prst="roundRect">
            <a:avLst/>
          </a:prstGeom>
          <a:solidFill>
            <a:srgbClr val="2C0C55"/>
          </a:solidFill>
          <a:ln w="25400">
            <a:solidFill>
              <a:srgbClr val="FF5A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2200" b="1">
                <a:solidFill>
                  <a:srgbClr val="FFFFFF"/>
                </a:solidFill>
              </a:defRPr>
            </a:pPr>
            <a:r>
              <a:t>🧠 La Ilusión del Ego</a:t>
            </a:r>
          </a:p>
          <a:p>
            <a:pPr>
              <a:defRPr sz="1900">
                <a:solidFill>
                  <a:srgbClr val="FFFFFF"/>
                </a:solidFill>
              </a:defRPr>
            </a:pPr>
            <a:r>
              <a:t>El ego te hace sentir que 'estás trabajando en ti' al analizar, para evitar el riesgo de actuar.</a:t>
            </a:r>
          </a:p>
        </p:txBody>
      </p:sp>
      <p:sp>
        <p:nvSpPr>
          <p:cNvPr id="8" name="Rounded Rectangle 7"/>
          <p:cNvSpPr/>
          <p:nvPr/>
        </p:nvSpPr>
        <p:spPr>
          <a:xfrm>
            <a:off x="7863840" y="2194560"/>
            <a:ext cx="3291840" cy="393192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2200" b="1">
                <a:solidFill>
                  <a:srgbClr val="FFFFFF"/>
                </a:solidFill>
              </a:defRPr>
            </a:pPr>
            <a:r>
              <a:t>⚡ La Verdad Incómoda</a:t>
            </a:r>
          </a:p>
          <a:p>
            <a:pPr>
              <a:defRPr sz="1900">
                <a:solidFill>
                  <a:srgbClr val="FFFFFF"/>
                </a:solidFill>
              </a:defRPr>
            </a:pPr>
            <a:r>
              <a:t>Entender calma la culpa, pero solo la ejecución concreta reprograma tu mente real.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MAPA MENTAL DE LA PARÁLISIS</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Las 2 Grandes Trampas Invisibles del Ego</a:t>
            </a:r>
          </a:p>
        </p:txBody>
      </p:sp>
      <p:sp>
        <p:nvSpPr>
          <p:cNvPr id="5" name="TextBox 4"/>
          <p:cNvSpPr txBox="1"/>
          <p:nvPr/>
        </p:nvSpPr>
        <p:spPr>
          <a:xfrm>
            <a:off x="731520" y="1371600"/>
            <a:ext cx="10698480" cy="457200"/>
          </a:xfrm>
          <a:prstGeom prst="rect">
            <a:avLst/>
          </a:prstGeom>
          <a:noFill/>
        </p:spPr>
        <p:txBody>
          <a:bodyPr wrap="none">
            <a:spAutoFit/>
          </a:bodyPr>
          <a:lstStyle/>
          <a:p>
            <a:pPr>
              <a:defRPr sz="2000">
                <a:solidFill>
                  <a:srgbClr val="FFFFFF"/>
                </a:solidFill>
              </a:defRPr>
            </a:pPr>
            <a:r>
              <a:t>De dónde nace tu procrastinación sofisticada</a:t>
            </a:r>
          </a:p>
        </p:txBody>
      </p:sp>
      <p:sp>
        <p:nvSpPr>
          <p:cNvPr id="6" name="Rounded Rectangle 5"/>
          <p:cNvSpPr/>
          <p:nvPr/>
        </p:nvSpPr>
        <p:spPr>
          <a:xfrm>
            <a:off x="731520" y="2194560"/>
            <a:ext cx="5120640" cy="3931920"/>
          </a:xfrm>
          <a:prstGeom prst="roundRect">
            <a:avLst/>
          </a:prstGeom>
          <a:solidFill>
            <a:srgbClr val="2C0C55"/>
          </a:solidFill>
          <a:ln w="25400">
            <a:solidFill>
              <a:srgbClr val="FF5A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2400" b="1">
                <a:solidFill>
                  <a:srgbClr val="FF5A8D"/>
                </a:solidFill>
              </a:defRPr>
            </a:pPr>
            <a:r>
              <a:t>🔴 La Trampa del Pasado</a:t>
            </a:r>
          </a:p>
          <a:p>
            <a:pPr>
              <a:spcAft>
                <a:spcPts val="1400"/>
              </a:spcAft>
              <a:defRPr sz="2200" b="1">
                <a:solidFill>
                  <a:srgbClr val="FFFFFF"/>
                </a:solidFill>
              </a:defRPr>
            </a:pPr>
            <a:r>
              <a:t>La Adicción al 'Por Qué'</a:t>
            </a:r>
          </a:p>
          <a:p>
            <a:pPr>
              <a:defRPr sz="1900">
                <a:solidFill>
                  <a:srgbClr val="FFFFFF"/>
                </a:solidFill>
              </a:defRPr>
            </a:pPr>
            <a:r>
              <a:t>Creer que necesitas resolver o entender hasta el último origen histórico de tu pasado antes de dar un solo paso en el presente.</a:t>
            </a:r>
          </a:p>
        </p:txBody>
      </p:sp>
      <p:sp>
        <p:nvSpPr>
          <p:cNvPr id="7" name="Rounded Rectangle 6"/>
          <p:cNvSpPr/>
          <p:nvPr/>
        </p:nvSpPr>
        <p:spPr>
          <a:xfrm>
            <a:off x="6126480" y="2194560"/>
            <a:ext cx="5120640" cy="393192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2400" b="1">
                <a:solidFill>
                  <a:srgbClr val="2AD2C5"/>
                </a:solidFill>
              </a:defRPr>
            </a:pPr>
            <a:r>
              <a:t>🟣 La Trampa del Futuro</a:t>
            </a:r>
          </a:p>
          <a:p>
            <a:pPr>
              <a:spcAft>
                <a:spcPts val="1400"/>
              </a:spcAft>
              <a:defRPr sz="2200" b="1">
                <a:solidFill>
                  <a:srgbClr val="FFFFFF"/>
                </a:solidFill>
              </a:defRPr>
            </a:pPr>
            <a:r>
              <a:t>La Ilusión del 'Momento Perfecto'</a:t>
            </a:r>
          </a:p>
          <a:p>
            <a:pPr>
              <a:defRPr sz="1900">
                <a:solidFill>
                  <a:srgbClr val="FFFFFF"/>
                </a:solidFill>
              </a:defRPr>
            </a:pPr>
            <a:r>
              <a:t>Creer que debes esperar a que tus emociones, tu seguridad, tu motivación y las circunstancias estén totalmente impecables.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TRAMPA DEL PASADO · PATRÓN 1</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La Analista del Pasado ('La Adicción al Por Qué')</a:t>
            </a:r>
          </a:p>
        </p:txBody>
      </p:sp>
      <p:sp>
        <p:nvSpPr>
          <p:cNvPr id="5" name="Rounded Rectangle 4"/>
          <p:cNvSpPr/>
          <p:nvPr/>
        </p:nvSpPr>
        <p:spPr>
          <a:xfrm>
            <a:off x="731520" y="1920240"/>
            <a:ext cx="10698480" cy="1234440"/>
          </a:xfrm>
          <a:prstGeom prst="roundRect">
            <a:avLst/>
          </a:prstGeom>
          <a:solidFill>
            <a:srgbClr val="2C0C55"/>
          </a:solidFill>
          <a:ln w="25400">
            <a:solidFill>
              <a:srgbClr val="FF5A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5A8D"/>
                </a:solidFill>
              </a:defRPr>
            </a:pPr>
            <a:r>
              <a:t>🔍 El Mecanismo del Ego</a:t>
            </a:r>
          </a:p>
          <a:p>
            <a:pPr>
              <a:defRPr sz="1900">
                <a:solidFill>
                  <a:srgbClr val="FFFFFF"/>
                </a:solidFill>
              </a:defRPr>
            </a:pPr>
            <a:r>
              <a:t>Creer que comprender la causa original o el trauma del pasado equivale automáticamente a haber resuelto el problema.</a:t>
            </a:r>
          </a:p>
        </p:txBody>
      </p:sp>
      <p:sp>
        <p:nvSpPr>
          <p:cNvPr id="6" name="Rounded Rectangle 5"/>
          <p:cNvSpPr/>
          <p:nvPr/>
        </p:nvSpPr>
        <p:spPr>
          <a:xfrm>
            <a:off x="731520" y="3383280"/>
            <a:ext cx="10698480" cy="123444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2AD2C5"/>
                </a:solidFill>
              </a:defRPr>
            </a:pPr>
            <a:r>
              <a:t>🔄 El Bucle de las Explicaciones</a:t>
            </a:r>
          </a:p>
          <a:p>
            <a:pPr>
              <a:defRPr sz="1900">
                <a:solidFill>
                  <a:srgbClr val="FFFFFF"/>
                </a:solidFill>
              </a:defRPr>
            </a:pPr>
            <a:r>
              <a:t>Buscar infinitos justificativos en tu historia para darte la razón y quedarte en la zona conocida.</a:t>
            </a:r>
          </a:p>
        </p:txBody>
      </p:sp>
      <p:sp>
        <p:nvSpPr>
          <p:cNvPr id="7" name="Rounded Rectangle 6"/>
          <p:cNvSpPr/>
          <p:nvPr/>
        </p:nvSpPr>
        <p:spPr>
          <a:xfrm>
            <a:off x="731520" y="4846320"/>
            <a:ext cx="10698480" cy="1234440"/>
          </a:xfrm>
          <a:prstGeom prst="roundRect">
            <a:avLst/>
          </a:prstGeom>
          <a:solidFill>
            <a:srgbClr val="2C0C5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FFFF"/>
                </a:solidFill>
              </a:defRPr>
            </a:pPr>
            <a:r>
              <a:t>💥 La Verdad Incómoda</a:t>
            </a:r>
          </a:p>
          <a:p>
            <a:pPr>
              <a:defRPr sz="1900">
                <a:solidFill>
                  <a:srgbClr val="FFFFFF"/>
                </a:solidFill>
              </a:defRPr>
            </a:pPr>
            <a:r>
              <a:t>Entender a medias consuela la culpa del ego, pero no cambia tu comportamiento presente si no ejecutas.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TRAMPA DEL PASADO · PATRÓN 2</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La Sanadora Eterna ('La Excusa del Trabajo Previo')</a:t>
            </a:r>
          </a:p>
        </p:txBody>
      </p:sp>
      <p:sp>
        <p:nvSpPr>
          <p:cNvPr id="5" name="Rounded Rectangle 4"/>
          <p:cNvSpPr/>
          <p:nvPr/>
        </p:nvSpPr>
        <p:spPr>
          <a:xfrm>
            <a:off x="731520" y="1920240"/>
            <a:ext cx="10698480" cy="1234440"/>
          </a:xfrm>
          <a:prstGeom prst="roundRect">
            <a:avLst/>
          </a:prstGeom>
          <a:solidFill>
            <a:srgbClr val="2C0C55"/>
          </a:solidFill>
          <a:ln w="25400">
            <a:solidFill>
              <a:srgbClr val="FF5A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5A8D"/>
                </a:solidFill>
              </a:defRPr>
            </a:pPr>
            <a:r>
              <a:t>🛡️ El Escudo de la Sanación</a:t>
            </a:r>
          </a:p>
          <a:p>
            <a:pPr>
              <a:defRPr sz="1900">
                <a:solidFill>
                  <a:srgbClr val="FFFFFF"/>
                </a:solidFill>
              </a:defRPr>
            </a:pPr>
            <a:r>
              <a:t>Usar la sanación como una coraza sofisticada para evitar la exposición, el rechazo y el riesgo de actuar.</a:t>
            </a:r>
          </a:p>
        </p:txBody>
      </p:sp>
      <p:sp>
        <p:nvSpPr>
          <p:cNvPr id="6" name="Rounded Rectangle 5"/>
          <p:cNvSpPr/>
          <p:nvPr/>
        </p:nvSpPr>
        <p:spPr>
          <a:xfrm>
            <a:off x="731520" y="3383280"/>
            <a:ext cx="10698480" cy="1234440"/>
          </a:xfrm>
          <a:prstGeom prst="roundRect">
            <a:avLst/>
          </a:prstGeom>
          <a:solidFill>
            <a:srgbClr val="2C0C5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FFFF"/>
                </a:solidFill>
              </a:defRPr>
            </a:pPr>
            <a:r>
              <a:t>🚫 La Premisa Limítrofe</a:t>
            </a:r>
          </a:p>
          <a:p>
            <a:pPr>
              <a:defRPr sz="1900">
                <a:solidFill>
                  <a:srgbClr val="FFFFFF"/>
                </a:solidFill>
              </a:defRPr>
            </a:pPr>
            <a:r>
              <a:t>Creer firmemente: 'Hasta que no sane esto del todo o termine este taller, no me puedo exigir avanzar'.</a:t>
            </a:r>
          </a:p>
        </p:txBody>
      </p:sp>
      <p:sp>
        <p:nvSpPr>
          <p:cNvPr id="7" name="Rounded Rectangle 6"/>
          <p:cNvSpPr/>
          <p:nvPr/>
        </p:nvSpPr>
        <p:spPr>
          <a:xfrm>
            <a:off x="731520" y="4846320"/>
            <a:ext cx="10698480" cy="123444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2AD2C5"/>
                </a:solidFill>
              </a:defRPr>
            </a:pPr>
            <a:r>
              <a:t>✨ La Verdad Incómoda</a:t>
            </a:r>
          </a:p>
          <a:p>
            <a:pPr>
              <a:defRPr sz="1900">
                <a:solidFill>
                  <a:srgbClr val="FFFFFF"/>
                </a:solidFill>
              </a:defRPr>
            </a:pPr>
            <a:r>
              <a:t>La acción concreta en el presente es la mejor herramienta de reprogramación y sanación, no el requisito previo.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TRAMPA DEL FUTURO · PATRÓN 3</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La Esperadora del Momento Perfecto ('La Ilusión del Futuro')</a:t>
            </a:r>
          </a:p>
        </p:txBody>
      </p:sp>
      <p:sp>
        <p:nvSpPr>
          <p:cNvPr id="5" name="Rounded Rectangle 4"/>
          <p:cNvSpPr/>
          <p:nvPr/>
        </p:nvSpPr>
        <p:spPr>
          <a:xfrm>
            <a:off x="731520" y="1920240"/>
            <a:ext cx="10698480" cy="123444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2AD2C5"/>
                </a:solidFill>
              </a:defRPr>
            </a:pPr>
            <a:r>
              <a:t>⏳ El Mecanismo de Postergación</a:t>
            </a:r>
          </a:p>
          <a:p>
            <a:pPr>
              <a:defRPr sz="1900">
                <a:solidFill>
                  <a:srgbClr val="FFFFFF"/>
                </a:solidFill>
              </a:defRPr>
            </a:pPr>
            <a:r>
              <a:t>Postergar decisiones esperando que las circunstancias o tu estado emocional estén mágicamente alineados.</a:t>
            </a:r>
          </a:p>
        </p:txBody>
      </p:sp>
      <p:sp>
        <p:nvSpPr>
          <p:cNvPr id="6" name="Rounded Rectangle 5"/>
          <p:cNvSpPr/>
          <p:nvPr/>
        </p:nvSpPr>
        <p:spPr>
          <a:xfrm>
            <a:off x="731520" y="3383280"/>
            <a:ext cx="10698480" cy="1234440"/>
          </a:xfrm>
          <a:prstGeom prst="roundRect">
            <a:avLst/>
          </a:prstGeom>
          <a:solidFill>
            <a:srgbClr val="2C0C55"/>
          </a:solidFill>
          <a:ln w="25400">
            <a:solidFill>
              <a:srgbClr val="FF5A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5A8D"/>
                </a:solidFill>
              </a:defRPr>
            </a:pPr>
            <a:r>
              <a:t>🔮 El Mito de Sentirse Lista</a:t>
            </a:r>
          </a:p>
          <a:p>
            <a:pPr>
              <a:defRPr sz="1900">
                <a:solidFill>
                  <a:srgbClr val="FFFFFF"/>
                </a:solidFill>
              </a:defRPr>
            </a:pPr>
            <a:r>
              <a:t>Fantasear con que un día te despertarás sintiéndote 100% segura, confiada, sin dudas y sin ningún tipo de miedo.</a:t>
            </a:r>
          </a:p>
        </p:txBody>
      </p:sp>
      <p:sp>
        <p:nvSpPr>
          <p:cNvPr id="7" name="Rounded Rectangle 6"/>
          <p:cNvSpPr/>
          <p:nvPr/>
        </p:nvSpPr>
        <p:spPr>
          <a:xfrm>
            <a:off x="731520" y="4846320"/>
            <a:ext cx="10698480" cy="1234440"/>
          </a:xfrm>
          <a:prstGeom prst="roundRect">
            <a:avLst/>
          </a:prstGeom>
          <a:solidFill>
            <a:srgbClr val="2C0C5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FFFF"/>
                </a:solidFill>
              </a:defRPr>
            </a:pPr>
            <a:r>
              <a:t>🎯 La Verdad Incómoda</a:t>
            </a:r>
          </a:p>
          <a:p>
            <a:pPr>
              <a:defRPr sz="1900">
                <a:solidFill>
                  <a:srgbClr val="FFFFFF"/>
                </a:solidFill>
              </a:defRPr>
            </a:pPr>
            <a:r>
              <a:t>El momento perfecto no existe. Esperarlo es una defensa contra la incomodidad de aprender sobre la marcha.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TRAMPA DEL FUTURO · PATRÓN 4</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La Protectora del Potencial ('La Fantasía del Control')</a:t>
            </a:r>
          </a:p>
        </p:txBody>
      </p:sp>
      <p:sp>
        <p:nvSpPr>
          <p:cNvPr id="5" name="Rounded Rectangle 4"/>
          <p:cNvSpPr/>
          <p:nvPr/>
        </p:nvSpPr>
        <p:spPr>
          <a:xfrm>
            <a:off x="731520" y="1920240"/>
            <a:ext cx="10698480" cy="123444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2AD2C5"/>
                </a:solidFill>
              </a:defRPr>
            </a:pPr>
            <a:r>
              <a:t>💎 La Fantasía Idealizada</a:t>
            </a:r>
          </a:p>
          <a:p>
            <a:pPr>
              <a:defRPr sz="1900">
                <a:solidFill>
                  <a:srgbClr val="FFFFFF"/>
                </a:solidFill>
              </a:defRPr>
            </a:pPr>
            <a:r>
              <a:t>Enamorarse de las ideas en la cabeza, donde todo es impecable porque nadie las juzga ni las pone a prueba.</a:t>
            </a:r>
          </a:p>
        </p:txBody>
      </p:sp>
      <p:sp>
        <p:nvSpPr>
          <p:cNvPr id="6" name="Rounded Rectangle 5"/>
          <p:cNvSpPr/>
          <p:nvPr/>
        </p:nvSpPr>
        <p:spPr>
          <a:xfrm>
            <a:off x="731520" y="3383280"/>
            <a:ext cx="10698480" cy="1234440"/>
          </a:xfrm>
          <a:prstGeom prst="roundRect">
            <a:avLst/>
          </a:prstGeom>
          <a:solidFill>
            <a:srgbClr val="2C0C55"/>
          </a:solidFill>
          <a:ln w="25400">
            <a:solidFill>
              <a:srgbClr val="FF5A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5A8D"/>
                </a:solidFill>
              </a:defRPr>
            </a:pPr>
            <a:r>
              <a:t>🫣 El Miedo al Choque de Realidad</a:t>
            </a:r>
          </a:p>
          <a:p>
            <a:pPr>
              <a:defRPr sz="1900">
                <a:solidFill>
                  <a:srgbClr val="FFFFFF"/>
                </a:solidFill>
              </a:defRPr>
            </a:pPr>
            <a:r>
              <a:t>Aterra chocar con la realidad concreta porque la realidad siempre es imperfecta, caótica e incontrolable.</a:t>
            </a:r>
          </a:p>
        </p:txBody>
      </p:sp>
      <p:sp>
        <p:nvSpPr>
          <p:cNvPr id="7" name="Rounded Rectangle 6"/>
          <p:cNvSpPr/>
          <p:nvPr/>
        </p:nvSpPr>
        <p:spPr>
          <a:xfrm>
            <a:off x="731520" y="4846320"/>
            <a:ext cx="10698480" cy="1234440"/>
          </a:xfrm>
          <a:prstGeom prst="roundRect">
            <a:avLst/>
          </a:prstGeom>
          <a:solidFill>
            <a:srgbClr val="2C0C5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FFFF"/>
                </a:solidFill>
              </a:defRPr>
            </a:pPr>
            <a:r>
              <a:t>🔨 La Verdad Incómoda</a:t>
            </a:r>
          </a:p>
          <a:p>
            <a:pPr>
              <a:defRPr sz="1900">
                <a:solidFill>
                  <a:srgbClr val="FFFFFF"/>
                </a:solidFill>
              </a:defRPr>
            </a:pPr>
            <a:r>
              <a:t>Es mil veces preferible un primer intento imperfecto que conservar el estatus de 'alguien con gran potencial no realizado'.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APRENDIZAJE EN ACCIÓN</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La Metáfora de Lanzarse al Agua</a:t>
            </a:r>
          </a:p>
        </p:txBody>
      </p:sp>
      <p:sp>
        <p:nvSpPr>
          <p:cNvPr id="5" name="TextBox 4"/>
          <p:cNvSpPr txBox="1"/>
          <p:nvPr/>
        </p:nvSpPr>
        <p:spPr>
          <a:xfrm>
            <a:off x="731520" y="1371600"/>
            <a:ext cx="10698480" cy="457200"/>
          </a:xfrm>
          <a:prstGeom prst="rect">
            <a:avLst/>
          </a:prstGeom>
          <a:noFill/>
        </p:spPr>
        <p:txBody>
          <a:bodyPr wrap="none">
            <a:spAutoFit/>
          </a:bodyPr>
          <a:lstStyle/>
          <a:p>
            <a:pPr>
              <a:defRPr sz="2000">
                <a:solidFill>
                  <a:srgbClr val="FFFFFF"/>
                </a:solidFill>
              </a:defRPr>
            </a:pPr>
            <a:r>
              <a:t>Aprender a nadar exige estar en el medio</a:t>
            </a:r>
          </a:p>
        </p:txBody>
      </p:sp>
      <p:sp>
        <p:nvSpPr>
          <p:cNvPr id="6" name="Rounded Rectangle 5"/>
          <p:cNvSpPr/>
          <p:nvPr/>
        </p:nvSpPr>
        <p:spPr>
          <a:xfrm>
            <a:off x="731520" y="2194560"/>
            <a:ext cx="3291840" cy="393192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2200" b="1">
                <a:solidFill>
                  <a:srgbClr val="FFFFFF"/>
                </a:solidFill>
              </a:defRPr>
            </a:pPr>
            <a:r>
              <a:t>🏖️ Fuera del Agua (Teoría)</a:t>
            </a:r>
          </a:p>
          <a:p>
            <a:pPr>
              <a:defRPr sz="1900">
                <a:solidFill>
                  <a:srgbClr val="FFFFFF"/>
                </a:solidFill>
              </a:defRPr>
            </a:pPr>
            <a:r>
              <a:t>En la orilla todo es planificación limpia y perfecta. Pero afuera NO estás aprendiendo a nadar.</a:t>
            </a:r>
          </a:p>
        </p:txBody>
      </p:sp>
      <p:sp>
        <p:nvSpPr>
          <p:cNvPr id="7" name="Rounded Rectangle 6"/>
          <p:cNvSpPr/>
          <p:nvPr/>
        </p:nvSpPr>
        <p:spPr>
          <a:xfrm>
            <a:off x="4297680" y="2194560"/>
            <a:ext cx="3291840" cy="3931920"/>
          </a:xfrm>
          <a:prstGeom prst="roundRect">
            <a:avLst/>
          </a:prstGeom>
          <a:solidFill>
            <a:srgbClr val="2C0C55"/>
          </a:solidFill>
          <a:ln w="25400">
            <a:solidFill>
              <a:srgbClr val="FF5A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2200" b="1">
                <a:solidFill>
                  <a:srgbClr val="FFFFFF"/>
                </a:solidFill>
              </a:defRPr>
            </a:pPr>
            <a:r>
              <a:t>🌊 Dentro del Agua (Acción)</a:t>
            </a:r>
          </a:p>
          <a:p>
            <a:pPr>
              <a:defRPr sz="1900">
                <a:solidFill>
                  <a:srgbClr val="FFFFFF"/>
                </a:solidFill>
              </a:defRPr>
            </a:pPr>
            <a:r>
              <a:t>Para aprender a nadar hay que lanzarse, sentir la densidad del agua, patalear y tragar agua.</a:t>
            </a:r>
          </a:p>
        </p:txBody>
      </p:sp>
      <p:sp>
        <p:nvSpPr>
          <p:cNvPr id="8" name="Rounded Rectangle 7"/>
          <p:cNvSpPr/>
          <p:nvPr/>
        </p:nvSpPr>
        <p:spPr>
          <a:xfrm>
            <a:off x="7863840" y="2194560"/>
            <a:ext cx="3291840" cy="393192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2200" b="1">
                <a:solidFill>
                  <a:srgbClr val="FFFFFF"/>
                </a:solidFill>
              </a:defRPr>
            </a:pPr>
            <a:r>
              <a:t>🏊‍♀️ La Lección de Vida</a:t>
            </a:r>
          </a:p>
          <a:p>
            <a:pPr>
              <a:defRPr sz="1900">
                <a:solidFill>
                  <a:srgbClr val="FFFFFF"/>
                </a:solidFill>
              </a:defRPr>
            </a:pPr>
            <a:r>
              <a:t>No se aprende a nadar mirando la piscina; la maestría se construye ejecutando adentro.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DISCIPLINA VS. EMOCIÓN</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La Acción es Fría: Desmitificando la Motivación</a:t>
            </a:r>
          </a:p>
        </p:txBody>
      </p:sp>
      <p:sp>
        <p:nvSpPr>
          <p:cNvPr id="5" name="Rounded Rectangle 4"/>
          <p:cNvSpPr/>
          <p:nvPr/>
        </p:nvSpPr>
        <p:spPr>
          <a:xfrm>
            <a:off x="731520" y="1920240"/>
            <a:ext cx="10698480" cy="1234440"/>
          </a:xfrm>
          <a:prstGeom prst="roundRect">
            <a:avLst/>
          </a:prstGeom>
          <a:solidFill>
            <a:srgbClr val="2C0C55"/>
          </a:solidFill>
          <a:ln w="25400">
            <a:solidFill>
              <a:srgbClr val="FF5A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5A8D"/>
                </a:solidFill>
              </a:defRPr>
            </a:pPr>
            <a:r>
              <a:t>📉 La Falacia de la Motivación</a:t>
            </a:r>
          </a:p>
          <a:p>
            <a:pPr>
              <a:defRPr sz="1900">
                <a:solidFill>
                  <a:srgbClr val="FFFFFF"/>
                </a:solidFill>
              </a:defRPr>
            </a:pPr>
            <a:r>
              <a:t>Esperar 'sentir ganas' te paraliza porque la emoción previa es voluble e inestable.</a:t>
            </a:r>
          </a:p>
        </p:txBody>
      </p:sp>
      <p:sp>
        <p:nvSpPr>
          <p:cNvPr id="6" name="Rounded Rectangle 5"/>
          <p:cNvSpPr/>
          <p:nvPr/>
        </p:nvSpPr>
        <p:spPr>
          <a:xfrm>
            <a:off x="731520" y="3383280"/>
            <a:ext cx="10698480" cy="123444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2AD2C5"/>
                </a:solidFill>
              </a:defRPr>
            </a:pPr>
            <a:r>
              <a:t>🧊 La Acción es Neutra y Fría</a:t>
            </a:r>
          </a:p>
          <a:p>
            <a:pPr>
              <a:defRPr sz="1900">
                <a:solidFill>
                  <a:srgbClr val="FFFFFF"/>
                </a:solidFill>
              </a:defRPr>
            </a:pPr>
            <a:r>
              <a:t>Accionar no requiere emoción previa; requiere decisión en automático sin pedir permiso a tu estado de ánimo.</a:t>
            </a:r>
          </a:p>
        </p:txBody>
      </p:sp>
      <p:sp>
        <p:nvSpPr>
          <p:cNvPr id="7" name="Rounded Rectangle 6"/>
          <p:cNvSpPr/>
          <p:nvPr/>
        </p:nvSpPr>
        <p:spPr>
          <a:xfrm>
            <a:off x="731520" y="4846320"/>
            <a:ext cx="10698480" cy="1234440"/>
          </a:xfrm>
          <a:prstGeom prst="roundRect">
            <a:avLst/>
          </a:prstGeom>
          <a:solidFill>
            <a:srgbClr val="2C0C5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200" b="1">
                <a:solidFill>
                  <a:srgbClr val="FFFFFF"/>
                </a:solidFill>
              </a:defRPr>
            </a:pPr>
            <a:r>
              <a:t>🏆 El Orden Real</a:t>
            </a:r>
          </a:p>
          <a:p>
            <a:pPr>
              <a:defRPr sz="1900">
                <a:solidFill>
                  <a:srgbClr val="FFFFFF"/>
                </a:solidFill>
              </a:defRPr>
            </a:pPr>
            <a:r>
              <a:t>El orgullo, la satisfacción y la motivación vienen DESPUÉS de accionar, nunca antes.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PNL &amp; PRÁCTICA EN VIVO</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Ejercicio Práctico: De la Teoría a la Acción</a:t>
            </a:r>
          </a:p>
        </p:txBody>
      </p:sp>
      <p:sp>
        <p:nvSpPr>
          <p:cNvPr id="5" name="Rounded Rectangle 4"/>
          <p:cNvSpPr/>
          <p:nvPr/>
        </p:nvSpPr>
        <p:spPr>
          <a:xfrm>
            <a:off x="1371600" y="2286000"/>
            <a:ext cx="9448495" cy="347472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600"/>
              </a:spcAft>
              <a:defRPr sz="3600" b="1">
                <a:solidFill>
                  <a:srgbClr val="FFFFFF"/>
                </a:solidFill>
              </a:defRPr>
            </a:pPr>
            <a:r>
              <a:t>🧘‍♀️ Ejercicio Práctico del Club</a:t>
            </a:r>
          </a:p>
          <a:p>
            <a:pPr algn="ctr">
              <a:defRPr sz="2200" b="1">
                <a:solidFill>
                  <a:srgbClr val="2AD2C5"/>
                </a:solidFill>
              </a:defRPr>
            </a:pPr>
            <a:r>
              <a:t>Guiado en vivo por Marbelis Montero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TRANSFORMACIÓN DE IDENTIDAD</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El Salto de Identidad y Compromiso</a:t>
            </a:r>
          </a:p>
        </p:txBody>
      </p:sp>
      <p:sp>
        <p:nvSpPr>
          <p:cNvPr id="5" name="Rounded Rectangle 4"/>
          <p:cNvSpPr/>
          <p:nvPr/>
        </p:nvSpPr>
        <p:spPr>
          <a:xfrm>
            <a:off x="731520" y="1645920"/>
            <a:ext cx="5120640" cy="2011680"/>
          </a:xfrm>
          <a:prstGeom prst="roundRect">
            <a:avLst/>
          </a:prstGeom>
          <a:solidFill>
            <a:srgbClr val="2C0C55"/>
          </a:solidFill>
          <a:ln>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2200" b="1">
                <a:solidFill>
                  <a:srgbClr val="2AD2C5"/>
                </a:solidFill>
              </a:defRPr>
            </a:pPr>
            <a:r>
              <a:t>👤 Cambio de Postura</a:t>
            </a:r>
          </a:p>
          <a:p>
            <a:pPr>
              <a:defRPr sz="1800">
                <a:solidFill>
                  <a:srgbClr val="FFFFFF"/>
                </a:solidFill>
              </a:defRPr>
            </a:pPr>
            <a:r>
              <a:t>Dejar de identificarte como 'la persona que analiza/sana' y encarnar a 'la persona que ejecuta con lo que tiene hoy'.</a:t>
            </a:r>
          </a:p>
        </p:txBody>
      </p:sp>
      <p:sp>
        <p:nvSpPr>
          <p:cNvPr id="6" name="Rounded Rectangle 5"/>
          <p:cNvSpPr/>
          <p:nvPr/>
        </p:nvSpPr>
        <p:spPr>
          <a:xfrm>
            <a:off x="6126480" y="1645920"/>
            <a:ext cx="5303520" cy="2011680"/>
          </a:xfrm>
          <a:prstGeom prst="roundRect">
            <a:avLst/>
          </a:prstGeom>
          <a:solidFill>
            <a:srgbClr val="2C0C55"/>
          </a:solidFill>
          <a:ln>
            <a:solidFill>
              <a:srgbClr val="FF5A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2200" b="1">
                <a:solidFill>
                  <a:srgbClr val="FF5A8D"/>
                </a:solidFill>
              </a:defRPr>
            </a:pPr>
            <a:r>
              <a:t>🤝 Compromiso de 24 Horas</a:t>
            </a:r>
          </a:p>
          <a:p>
            <a:pPr>
              <a:defRPr sz="1800">
                <a:solidFill>
                  <a:srgbClr val="FFFFFF"/>
                </a:solidFill>
              </a:defRPr>
            </a:pPr>
            <a:r>
              <a:t>Ejecutar tu acción mínima hoy antes de irte a dormir, sin negociar con las excusas, y compartirla en el Club.</a:t>
            </a:r>
          </a:p>
        </p:txBody>
      </p:sp>
      <p:sp>
        <p:nvSpPr>
          <p:cNvPr id="7" name="Rounded Rectangle 6"/>
          <p:cNvSpPr/>
          <p:nvPr/>
        </p:nvSpPr>
        <p:spPr>
          <a:xfrm>
            <a:off x="731520" y="3931920"/>
            <a:ext cx="10698480" cy="2194560"/>
          </a:xfrm>
          <a:prstGeom prst="roundRect">
            <a:avLst/>
          </a:prstGeom>
          <a:solidFill>
            <a:srgbClr val="2C0C55"/>
          </a:solidFill>
          <a:ln w="254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i="1">
                <a:solidFill>
                  <a:srgbClr val="FFFFFF"/>
                </a:solidFill>
              </a:defRPr>
            </a:pPr>
            <a:r>
              <a:t>“No esperes a estar lista para lanzarte al agua; lánzate al agua para aprender a estar lista. Al final del día, tu potencial no se mide por lo impecable que es tu idea en la mente, sino por la valentía con la que encarnas tu nueva identidad en la realidad.”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0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400" b="1">
                <a:solidFill>
                  <a:srgbClr val="2AD2C5"/>
                </a:solidFill>
              </a:defRPr>
            </a:pPr>
            <a:r>
              <a:t>COMUNIDAD EN VIVO</a:t>
            </a:r>
          </a:p>
        </p:txBody>
      </p:sp>
      <p:sp>
        <p:nvSpPr>
          <p:cNvPr id="4" name="TextBox 3"/>
          <p:cNvSpPr txBox="1"/>
          <p:nvPr/>
        </p:nvSpPr>
        <p:spPr>
          <a:xfrm>
            <a:off x="731520" y="731520"/>
            <a:ext cx="10698480" cy="731520"/>
          </a:xfrm>
          <a:prstGeom prst="rect">
            <a:avLst/>
          </a:prstGeom>
          <a:noFill/>
        </p:spPr>
        <p:txBody>
          <a:bodyPr wrap="none">
            <a:spAutoFit/>
          </a:bodyPr>
          <a:lstStyle/>
          <a:p>
            <a:pPr>
              <a:defRPr sz="3200" b="1">
                <a:solidFill>
                  <a:srgbClr val="FFFFFF"/>
                </a:solidFill>
              </a:defRPr>
            </a:pPr>
            <a:r>
              <a:t>Espacio de Preguntas &amp; Reprogramación</a:t>
            </a:r>
          </a:p>
        </p:txBody>
      </p:sp>
      <p:sp>
        <p:nvSpPr>
          <p:cNvPr id="5" name="Rounded Rectangle 4"/>
          <p:cNvSpPr/>
          <p:nvPr/>
        </p:nvSpPr>
        <p:spPr>
          <a:xfrm>
            <a:off x="2011680" y="2743200"/>
            <a:ext cx="8138160" cy="1645920"/>
          </a:xfrm>
          <a:prstGeom prst="roundRect">
            <a:avLst/>
          </a:prstGeom>
          <a:solidFill>
            <a:srgbClr val="280F3C"/>
          </a:solidFill>
          <a:ln w="38100">
            <a:solidFill>
              <a:srgbClr val="2AD2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2AD2C5"/>
                </a:solidFill>
              </a:defRPr>
            </a:pPr>
            <a:r>
              <a:t>⏸️ Pausamos la grabación para conversar</a:t>
            </a:r>
          </a:p>
        </p:txBody>
      </p:sp>
      <p:sp>
        <p:nvSpPr>
          <p:cNvPr id="6" name="TextBox 5"/>
          <p:cNvSpPr txBox="1"/>
          <p:nvPr/>
        </p:nvSpPr>
        <p:spPr>
          <a:xfrm>
            <a:off x="1097280" y="4754880"/>
            <a:ext cx="9966960" cy="914400"/>
          </a:xfrm>
          <a:prstGeom prst="rect">
            <a:avLst/>
          </a:prstGeom>
          <a:noFill/>
        </p:spPr>
        <p:txBody>
          <a:bodyPr wrap="none">
            <a:spAutoFit/>
          </a:bodyPr>
          <a:lstStyle/>
          <a:p>
            <a:pPr algn="ctr">
              <a:defRPr sz="2200">
                <a:solidFill>
                  <a:srgbClr val="FFFFFF"/>
                </a:solidFill>
              </a:defRPr>
            </a:pPr>
            <a:r>
              <a:t>Un espacio seguro y privado para nuestra comunidad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