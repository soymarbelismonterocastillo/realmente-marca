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0"/>
              </a:spcAft>
              <a:defRPr sz="1800" b="1">
                <a:solidFill>
                  <a:srgbClr val="2AD2C5"/>
                </a:solidFill>
              </a:defRPr>
            </a:pPr>
            <a:r>
              <a:t>REALMENTE CLUB · SESIÓN EN VIVO</a:t>
            </a:r>
          </a:p>
          <a:p>
            <a:pPr algn="ctr">
              <a:spcAft>
                <a:spcPts val="1600"/>
              </a:spcAft>
              <a:defRPr sz="4400" b="1">
                <a:solidFill>
                  <a:srgbClr val="FFFFFF"/>
                </a:solidFill>
              </a:defRPr>
            </a:pPr>
            <a:r>
              <a:t>Reprogramación del Diálogo Interno</a:t>
            </a:r>
          </a:p>
          <a:p>
            <a:pPr algn="ctr">
              <a:defRPr sz="2200" b="1">
                <a:solidFill>
                  <a:srgbClr val="D4B2E6"/>
                </a:solidFill>
              </a:defRPr>
            </a:pPr>
            <a:r>
              <a:t>Del Jefe Tirano a la Verdad sin Juicio y los Pensamientos Constructivos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CCDEB"/>
                </a:solidFill>
              </a:defRPr>
            </a:pPr>
            <a:r>
              <a:t>Facilitadora: Marbelis Montero  |  Sábado 12 de Septiembre,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</a:defRPr>
            </a:pPr>
            <a:r>
              <a:t>REFLEXIÓN DE APERTURA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Tu Conversación Más Importante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9966960" cy="2377440"/>
          </a:xfrm>
          <a:prstGeom prst="roundRect">
            <a:avLst/>
          </a:prstGeom>
          <a:solidFill>
            <a:srgbClr val="2E0C59"/>
          </a:solidFill>
          <a:ln w="25400">
            <a:solidFill>
              <a:srgbClr val="D4B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800" i="1">
                <a:solidFill>
                  <a:srgbClr val="FFFFFF"/>
                </a:solidFill>
              </a:defRPr>
            </a:pPr>
            <a:r>
              <a:t>“El pensamiento es el diálogo que el alma sostiene consigo misma.”</a:t>
            </a:r>
          </a:p>
          <a:p>
            <a:pPr algn="ctr">
              <a:defRPr sz="2200" b="1">
                <a:solidFill>
                  <a:srgbClr val="2AD2C5"/>
                </a:solidFill>
              </a:defRPr>
            </a:pPr>
            <a:r>
              <a:t>— PLATÓN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754880"/>
            <a:ext cx="9966960" cy="1371600"/>
          </a:xfrm>
          <a:prstGeom prst="roundRect">
            <a:avLst/>
          </a:prstGeom>
          <a:solidFill>
            <a:srgbClr val="3C0F41"/>
          </a:solidFill>
          <a:ln w="25400"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FF5A8D"/>
                </a:solidFill>
              </a:defRPr>
            </a:pPr>
            <a:r>
              <a:t>❓ Pregunta Disparadora para el Chat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¿Qué clase de diálogo has estado sosteniendo contigo esta semana?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</a:defRPr>
            </a:pPr>
            <a:r>
              <a:t>CONCEPTO CLAVE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Tu Diálogo Interno Nunca Miente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4B2E6"/>
                </a:solidFill>
              </a:defRPr>
            </a:pPr>
            <a:r>
              <a:t>La unidad de medida de la relación contigo misma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291840" cy="3840480"/>
          </a:xfrm>
          <a:prstGeom prst="roundRect">
            <a:avLst/>
          </a:prstGeom>
          <a:solidFill>
            <a:srgbClr val="2E0C59"/>
          </a:solidFill>
          <a:ln w="25400"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200" b="1">
                <a:solidFill>
                  <a:srgbClr val="FFFFFF"/>
                </a:solidFill>
              </a:defRPr>
            </a:pPr>
            <a:r>
              <a:t>📏 La Unidad de Medida</a:t>
            </a:r>
          </a:p>
          <a:p>
            <a:pPr>
              <a:defRPr sz="1700">
                <a:solidFill>
                  <a:srgbClr val="DCCDEB"/>
                </a:solidFill>
              </a:defRPr>
            </a:pPr>
            <a:r>
              <a:t>La unidad de medida de la relación contigo misma es tu diálogo interno.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291840" cy="3840480"/>
          </a:xfrm>
          <a:prstGeom prst="roundRect">
            <a:avLst/>
          </a:prstGeom>
          <a:solidFill>
            <a:srgbClr val="2E0C59"/>
          </a:solidFill>
          <a:ln w="25400"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200" b="1">
                <a:solidFill>
                  <a:srgbClr val="FFFFFF"/>
                </a:solidFill>
              </a:defRPr>
            </a:pPr>
            <a:r>
              <a:t>💡 Sin Juicio ni Exigencia</a:t>
            </a:r>
          </a:p>
          <a:p>
            <a:pPr>
              <a:defRPr sz="1700">
                <a:solidFill>
                  <a:srgbClr val="DCCDEB"/>
                </a:solidFill>
              </a:defRPr>
            </a:pPr>
            <a:r>
              <a:t>No se trata de ponerle expectativas irreales a tu proceso ni exigirte perfección.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377440"/>
            <a:ext cx="3291840" cy="3840480"/>
          </a:xfrm>
          <a:prstGeom prst="roundRect">
            <a:avLst/>
          </a:prstGeom>
          <a:solidFill>
            <a:srgbClr val="2E0C59"/>
          </a:solidFill>
          <a:ln w="25400">
            <a:solidFill>
              <a:srgbClr val="D4B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200" b="1">
                <a:solidFill>
                  <a:srgbClr val="FFFFFF"/>
                </a:solidFill>
              </a:defRPr>
            </a:pPr>
            <a:r>
              <a:t>🩺 Radiografía Exacta</a:t>
            </a:r>
          </a:p>
          <a:p>
            <a:pPr>
              <a:defRPr sz="1700">
                <a:solidFill>
                  <a:srgbClr val="DCCDEB"/>
                </a:solidFill>
              </a:defRPr>
            </a:pPr>
            <a:r>
              <a:t>Tu voz interna es la radiografía fiel de cómo te sientes y estás contigo en el presente.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</a:defRPr>
            </a:pPr>
            <a:r>
              <a:t>CONEXIÓN PROFUNDA Y ORIGEN DE LAS VOCES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El Ángel vs. El Diablito y Tu Esencia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2E0C59"/>
          </a:solidFill>
          <a:ln w="25400"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2AD2C5"/>
                </a:solidFill>
              </a:defRPr>
            </a:pPr>
            <a:r>
              <a:t>😇👿 Metáfora del Ángel y el Diablito (Las Comiquitas)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En las caricaturas siempre se representaba la lucha entre la voz de la paz (angelito) y la voz del juicio/exigencia (diablito).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698480" cy="1188720"/>
          </a:xfrm>
          <a:prstGeom prst="roundRect">
            <a:avLst/>
          </a:prstGeom>
          <a:solidFill>
            <a:srgbClr val="2E0C59"/>
          </a:solidFill>
          <a:ln w="25400"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FF5A8D"/>
                </a:solidFill>
              </a:defRPr>
            </a:pPr>
            <a:r>
              <a:t>📜 El Origen de la Lucha Interna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Esa pelea interna no es casualidad; se activa desde lo más profundo de tus vivencias pasadas, tu historia y tus experiencias.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2E0C59"/>
          </a:solidFill>
          <a:ln w="25400">
            <a:solidFill>
              <a:srgbClr val="D4B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D4B2E6"/>
                </a:solidFill>
              </a:defRPr>
            </a:pPr>
            <a:r>
              <a:t>✨ Tu Verdadera Esencia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Detrás de la lucha entre esas dos voces habita quien realmente eres. Reconocerla te permite reconectar con tu verdad.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</a:defRPr>
            </a:pPr>
            <a:r>
              <a:t>SINCERAMIENTO RADICAL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La Fuerza de Decirte la Verdad (Sin Juicio)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2E0C59"/>
          </a:solidFill>
          <a:ln w="25400"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FF5A8D"/>
                </a:solidFill>
              </a:defRPr>
            </a:pPr>
            <a:r>
              <a:t>🛡️ Decirte la verdad NO es darte con el látigo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No se trata de criticarte por fallar o exigirte estar siempre perfecta. La verdad nace de la compasión.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698480" cy="1188720"/>
          </a:xfrm>
          <a:prstGeom prst="roundRect">
            <a:avLst/>
          </a:prstGeom>
          <a:solidFill>
            <a:srgbClr val="2E0C59"/>
          </a:solidFill>
          <a:ln w="25400"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2AD2C5"/>
                </a:solidFill>
              </a:defRPr>
            </a:pPr>
            <a:r>
              <a:t>💬 Admitir tu estado emocional real sin esconderlo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Decirte con honestidad: “Hoy me siento cansada”, “Hoy siento miedo” o “Hoy no me siento capaz”.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2E0C59"/>
          </a:solidFill>
          <a:ln w="25400">
            <a:solidFill>
              <a:srgbClr val="D4B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D4B2E6"/>
                </a:solidFill>
              </a:defRPr>
            </a:pPr>
            <a:r>
              <a:t>🕊️ La mente suelta la resistencia y entra en calma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Al validar lo que sientes sin culpa ni vergüenza, la pelea interna se termina y el cuerpo descansa.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🧘‍♀️ Ejercicio: Desarmando Tu Diálogo Interno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</a:defRPr>
            </a:pPr>
            <a:r>
              <a:t>MATRIZ DE PENSAMIENTOS PUENTE · PARTE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 la Lucha al Pensamiento Constructivo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1051560"/>
          </a:xfrm>
          <a:prstGeom prst="roundRect">
            <a:avLst/>
          </a:prstGeom>
          <a:solidFill>
            <a:srgbClr val="2E0C59"/>
          </a:solidFill>
          <a:ln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B3C6"/>
                </a:solidFill>
              </a:defRPr>
            </a:pPr>
            <a:r>
              <a:t>"Tengo que hacer todo esto hoy o fallé"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920240"/>
            <a:ext cx="5394960" cy="1051560"/>
          </a:xfrm>
          <a:prstGeom prst="roundRect">
            <a:avLst/>
          </a:prstGeom>
          <a:solidFill>
            <a:srgbClr val="2E0C59"/>
          </a:solidFill>
          <a:ln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E0FBF8"/>
                </a:solidFill>
              </a:defRPr>
            </a:pPr>
            <a:r>
              <a:t>"Elijo hacer lo prioritario hoy y me permito avanzar a mi ritmo sin castigarme."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120640" cy="1051560"/>
          </a:xfrm>
          <a:prstGeom prst="roundRect">
            <a:avLst/>
          </a:prstGeom>
          <a:solidFill>
            <a:srgbClr val="2E0C59"/>
          </a:solidFill>
          <a:ln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B3C6"/>
                </a:solidFill>
              </a:defRPr>
            </a:pPr>
            <a:r>
              <a:t>"Debería estar más avanzada a mi edad"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063240"/>
            <a:ext cx="5394960" cy="1051560"/>
          </a:xfrm>
          <a:prstGeom prst="roundRect">
            <a:avLst/>
          </a:prstGeom>
          <a:solidFill>
            <a:srgbClr val="2E0C59"/>
          </a:solidFill>
          <a:ln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E0FBF8"/>
                </a:solidFill>
              </a:defRPr>
            </a:pPr>
            <a:r>
              <a:t>"Acepto dónde estoy hoy; mi proceso no se parece al de nadie más y está bien."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5120640" cy="1051560"/>
          </a:xfrm>
          <a:prstGeom prst="roundRect">
            <a:avLst/>
          </a:prstGeom>
          <a:solidFill>
            <a:srgbClr val="2E0C59"/>
          </a:solidFill>
          <a:ln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B3C6"/>
                </a:solidFill>
              </a:defRPr>
            </a:pPr>
            <a:r>
              <a:t>"No soy capaz de resolver este problema"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206240"/>
            <a:ext cx="5394960" cy="1051560"/>
          </a:xfrm>
          <a:prstGeom prst="roundRect">
            <a:avLst/>
          </a:prstGeom>
          <a:solidFill>
            <a:srgbClr val="2E0C59"/>
          </a:solidFill>
          <a:ln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E0FBF8"/>
                </a:solidFill>
              </a:defRPr>
            </a:pPr>
            <a:r>
              <a:t>"Aún no tengo la respuesta, pero estoy en proceso de aprender a resolverlo."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49240"/>
            <a:ext cx="5120640" cy="1051560"/>
          </a:xfrm>
          <a:prstGeom prst="roundRect">
            <a:avLst/>
          </a:prstGeom>
          <a:solidFill>
            <a:srgbClr val="2E0C59"/>
          </a:solidFill>
          <a:ln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B3C6"/>
                </a:solidFill>
              </a:defRPr>
            </a:pPr>
            <a:r>
              <a:t>"Cometí un error horrible, qué tonta fui"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5349240"/>
            <a:ext cx="5394960" cy="1051560"/>
          </a:xfrm>
          <a:prstGeom prst="roundRect">
            <a:avLst/>
          </a:prstGeom>
          <a:solidFill>
            <a:srgbClr val="2E0C59"/>
          </a:solidFill>
          <a:ln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E0FBF8"/>
                </a:solidFill>
              </a:defRPr>
            </a:pPr>
            <a:r>
              <a:t>"Cometí una falla y es un dato de aprendizaje; no define mi capacidad ni mi valor."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</a:defRPr>
            </a:pPr>
            <a:r>
              <a:t>MATRIZ DE PENSAMIENTOS PUENTE · PARTE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 la Lucha al Pensamiento Constructivo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234440"/>
          </a:xfrm>
          <a:prstGeom prst="roundRect">
            <a:avLst/>
          </a:prstGeom>
          <a:solidFill>
            <a:srgbClr val="2E0C59"/>
          </a:solidFill>
          <a:ln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B3C6"/>
                </a:solidFill>
              </a:defRPr>
            </a:pPr>
            <a:r>
              <a:t>"No me alcanza el tiempo para nada"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011680"/>
            <a:ext cx="5394960" cy="1234440"/>
          </a:xfrm>
          <a:prstGeom prst="roundRect">
            <a:avLst/>
          </a:prstGeom>
          <a:solidFill>
            <a:srgbClr val="2E0C59"/>
          </a:solidFill>
          <a:ln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E0FBF8"/>
                </a:solidFill>
              </a:defRPr>
            </a:pPr>
            <a:r>
              <a:t>"Decido organizar mi energía en lo que importa hoy y suelto la prisa."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120640" cy="1234440"/>
          </a:xfrm>
          <a:prstGeom prst="roundRect">
            <a:avLst/>
          </a:prstGeom>
          <a:solidFill>
            <a:srgbClr val="2E0C59"/>
          </a:solidFill>
          <a:ln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B3C6"/>
                </a:solidFill>
              </a:defRPr>
            </a:pPr>
            <a:r>
              <a:t>"Me da rabia/envidia que a ella le salga tan fácil"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383280"/>
            <a:ext cx="5394960" cy="1234440"/>
          </a:xfrm>
          <a:prstGeom prst="roundRect">
            <a:avLst/>
          </a:prstGeom>
          <a:solidFill>
            <a:srgbClr val="2E0C59"/>
          </a:solidFill>
          <a:ln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E0FBF8"/>
                </a:solidFill>
              </a:defRPr>
            </a:pPr>
            <a:r>
              <a:t>"Sinceramente siento rabia, y acepto que esto me muestra algo que yo también deseo."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120640" cy="1234440"/>
          </a:xfrm>
          <a:prstGeom prst="roundRect">
            <a:avLst/>
          </a:prstGeom>
          <a:solidFill>
            <a:srgbClr val="2E0C59"/>
          </a:solidFill>
          <a:ln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B3C6"/>
                </a:solidFill>
              </a:defRPr>
            </a:pPr>
            <a:r>
              <a:t>"No me siento lista para mostrarme"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754880"/>
            <a:ext cx="5394960" cy="1234440"/>
          </a:xfrm>
          <a:prstGeom prst="roundRect">
            <a:avLst/>
          </a:prstGeom>
          <a:solidFill>
            <a:srgbClr val="2E0C59"/>
          </a:solidFill>
          <a:ln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E0FBF8"/>
                </a:solidFill>
              </a:defRPr>
            </a:pPr>
            <a:r>
              <a:t>"No necesito sentirme 100% lista; me abro a dar el primer paso con lo que tengo hoy."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</a:defRPr>
            </a:pPr>
            <a:r>
              <a:t>REFLEXIÓN DE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Transformando la Relación Contigo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9966960" cy="2560320"/>
          </a:xfrm>
          <a:prstGeom prst="roundRect">
            <a:avLst/>
          </a:prstGeom>
          <a:solidFill>
            <a:srgbClr val="2E0C59"/>
          </a:solidFill>
          <a:ln w="25400">
            <a:solidFill>
              <a:srgbClr val="D4B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600" i="1">
                <a:solidFill>
                  <a:srgbClr val="FFFFFF"/>
                </a:solidFill>
              </a:defRPr>
            </a:pPr>
            <a:r>
              <a:t>“Llevas años criticándote y no ha funcionado.</a:t>
            </a:r>
            <a:br/>
            <a:r>
              <a:t>Prueba a abordar la vida desde la aprobación y verás qué pasa.”</a:t>
            </a:r>
          </a:p>
          <a:p>
            <a:pPr algn="ctr">
              <a:defRPr sz="2200" b="1">
                <a:solidFill>
                  <a:srgbClr val="D4B2E6"/>
                </a:solidFill>
              </a:defRPr>
            </a:pPr>
            <a:r>
              <a:t>— LOUISE HAY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37760"/>
            <a:ext cx="9966960" cy="1188720"/>
          </a:xfrm>
          <a:prstGeom prst="roundRect">
            <a:avLst/>
          </a:prstGeom>
          <a:solidFill>
            <a:srgbClr val="280F3C"/>
          </a:solidFill>
          <a:ln w="25400"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0FBF8"/>
                </a:solidFill>
              </a:defRPr>
            </a:pPr>
            <a:r>
              <a:t>🌿 Sustituir la crítica dura por la aprobación amigable es el primer paso a la paz.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</a:defRPr>
            </a:pPr>
            <a:r>
              <a:t>COMUNIDAD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Espacio de Preguntas &amp; Reprogramación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743200"/>
            <a:ext cx="8138160" cy="1645920"/>
          </a:xfrm>
          <a:prstGeom prst="roundRect">
            <a:avLst/>
          </a:prstGeom>
          <a:solidFill>
            <a:srgbClr val="280F3C"/>
          </a:solidFill>
          <a:ln w="38100"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AD2C5"/>
                </a:solidFill>
              </a:defRPr>
            </a:pPr>
            <a:r>
              <a:t>⏸️ Pausamos la grabación para conversar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4B2E6"/>
                </a:solidFill>
              </a:defRPr>
            </a:pPr>
            <a:r>
              <a:t>Un espacio seguro y privado para nuestra comunidad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