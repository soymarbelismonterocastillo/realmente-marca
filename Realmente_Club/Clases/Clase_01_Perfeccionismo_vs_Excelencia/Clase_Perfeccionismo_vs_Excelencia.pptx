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548640"/>
          <a:lstStyle/>
          <a:p>
            <a:pPr algn="ctr">
              <a:defRPr sz="1800" b="1">
                <a:solidFill>
                  <a:srgbClr val="4C078C"/>
                </a:solidFill>
                <a:latin typeface="Jost"/>
              </a:defRPr>
            </a:pPr>
            <a:r>
              <a:t>REALMENTE CLUB • ENCUENTRO EN VIVO</a:t>
            </a:r>
          </a:p>
          <a:p>
            <a:br/>
            <a:pPr algn="ctr">
              <a:defRPr sz="4400" b="1">
                <a:solidFill>
                  <a:srgbClr val="4C078C"/>
                </a:solidFill>
                <a:latin typeface="Jost"/>
              </a:defRPr>
            </a:pPr>
            <a:r>
              <a:t>De la Perfección a la Excelencia</a:t>
            </a:r>
          </a:p>
          <a:p>
            <a:br/>
            <a:pPr algn="ctr">
              <a:defRPr sz="2400" b="1">
                <a:solidFill>
                  <a:srgbClr val="0F0F0F"/>
                </a:solidFill>
                <a:latin typeface="Mulish"/>
              </a:defRPr>
            </a:pPr>
            <a:r>
              <a:t>La base del progreso y la proyección de tu cambio a 6 meses</a:t>
            </a:r>
          </a:p>
          <a:p>
            <a:br/>
            <a:pPr algn="ctr">
              <a:defRPr sz="2200" b="1">
                <a:solidFill>
                  <a:srgbClr val="A669DA"/>
                </a:solidFill>
                <a:latin typeface="Jost"/>
              </a:defRPr>
            </a:pPr>
            <a:r>
              <a:t>Marbelis Montero Castillo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La Dinámica de Nuestra Clase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2011680"/>
          </a:xfrm>
          <a:prstGeom prst="roundRect">
            <a:avLst/>
          </a:prstGeom>
          <a:solidFill>
            <a:srgbClr val="F5EEFC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1. El Tema del Podcast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Profundizamos la Perfección vs. Excelencia y analizamos los 4 resultados del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2. La Base del Progreso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Conectamos con la clave del avance real: Estar en el Presente (pensamiento y acción al unísono).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486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3. Tu Visión a 6 Meses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Estructuramos el cambio concreto que vas a traer listo a tu Sesión de Diagnóstico.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486400" cy="2011680"/>
          </a:xfrm>
          <a:prstGeom prst="roundRect">
            <a:avLst/>
          </a:prstGeom>
          <a:solidFill>
            <a:srgbClr val="F5EEFC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4. Espacio Privado Q&amp;A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Cerramos la grabación oficial y abrimos micrófonos para mentoría e interacción en vivo.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7295" cy="1645920"/>
          </a:xfrm>
          <a:prstGeom prst="roundRect">
            <a:avLst/>
          </a:prstGeom>
          <a:solidFill>
            <a:srgbClr val="F5EEFC"/>
          </a:solidFill>
          <a:ln w="2540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2600" b="1">
                <a:solidFill>
                  <a:srgbClr val="4C078C"/>
                </a:solidFill>
                <a:latin typeface="Jost"/>
              </a:defRPr>
            </a:pPr>
            <a:r>
              <a:t>¿Realmente tu perfeccionismo es amor al detalle? Es miedo a ser juzgada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11277295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defRPr sz="2000" b="1">
                <a:solidFill>
                  <a:srgbClr val="0F0F0F"/>
                </a:solidFill>
                <a:latin typeface="Mulish"/>
              </a:defRPr>
            </a:pPr>
            <a:r>
              <a:t>En el podcast hablamos sobre el perfeccionismo. Hoy en el Club venimos a calibrar en caliente dónde está parada tu mente.</a:t>
            </a:r>
          </a:p>
          <a:p>
            <a:br/>
            <a:br/>
            <a:pPr algn="ctr">
              <a:defRPr sz="2400" b="1">
                <a:solidFill>
                  <a:srgbClr val="4C078C"/>
                </a:solidFill>
                <a:latin typeface="Jost"/>
              </a:defRPr>
            </a:pPr>
            <a:r>
              <a:t>"¿Cuántas cosas en tu vida hoy están pausadas o pesadas por culpa de un estándar invisible?"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La Trampa de la Invisibilidad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1. El Camuflaje Exterior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A simple vista, tanto la excelencia como la perfección entregan resultados impecables. La sociedad premia a ambas por igual porque ve el resultado, no el costo.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2011680"/>
          </a:xfrm>
          <a:prstGeom prst="roundRect">
            <a:avLst/>
          </a:prstGeom>
          <a:solidFill>
            <a:srgbClr val="F5EEFC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2. El Costo Interno Real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La diferencia real no está en lo que los demás ven afuera, sino en el precio emocional que pagas en tu mente por lograr ese resultado.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486400" cy="20116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E11D48"/>
                </a:solidFill>
                <a:latin typeface="Jost"/>
              </a:defRPr>
            </a:pPr>
            <a:r>
              <a:t>LA PERFECCIÓN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Se siente pesada, con tensión física, hipervigilancia constante y un agotamiento mental que no se quita descansando.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486400" cy="20116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14B8A6"/>
                </a:solidFill>
                <a:latin typeface="Jost"/>
              </a:defRPr>
            </a:pPr>
            <a:r>
              <a:t>LA EXCELENCIA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Se siente enfocada, serena, con sensación de avance real y paz profunda con lo entregado.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¿Desde dónde estás accionando?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5720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200" b="1">
                <a:solidFill>
                  <a:srgbClr val="E11D48"/>
                </a:solidFill>
                <a:latin typeface="Jost"/>
              </a:defRPr>
            </a:pPr>
            <a:r>
              <a:t>PERFECCIÓN (Desde el Miedo)</a:t>
            </a:r>
          </a:p>
          <a:p>
            <a:br/>
            <a:pPr>
              <a:defRPr sz="1700" b="1">
                <a:solidFill>
                  <a:srgbClr val="0F0F0F"/>
                </a:solidFill>
                <a:latin typeface="Mulish"/>
              </a:defRPr>
            </a:pPr>
            <a:r>
              <a:t>Frases reales en tu cabeza:</a:t>
            </a:r>
            <a:br/>
            <a:r>
              <a:t>• "¿Y si sale mal?"</a:t>
            </a:r>
            <a:br/>
            <a:r>
              <a:t>• "¿Y si no les gusta a las personas?"</a:t>
            </a:r>
            <a:br/>
            <a:r>
              <a:t>• "¿Y si no les gusta, me critican y me muero de vergüenza?"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4572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200" b="1">
                <a:solidFill>
                  <a:srgbClr val="14B8A6"/>
                </a:solidFill>
                <a:latin typeface="Jost"/>
              </a:defRPr>
            </a:pPr>
            <a:r>
              <a:t>EXCELENCIA (Expansión Real)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• Cero cuento Disney:</a:t>
            </a:r>
            <a:br/>
            <a:r>
              <a:t>Elegir la excelencia NO significa que andas volando de felicidad o que no cuesta nada.</a:t>
            </a:r>
            <a:br/>
            <a:br/>
            <a:r>
              <a:t>• La realidad humana:</a:t>
            </a:r>
            <a:br/>
            <a:r>
              <a:t>Hay esfuerzo, cansancio real y días donde preferirías estar durmiendo.</a:t>
            </a:r>
            <a:br/>
            <a:br/>
            <a:r>
              <a:t>• La diferencia:</a:t>
            </a:r>
            <a:br/>
            <a:r>
              <a:t>Haces el esfuerzo por compromiso con tu propósito y te sientes bien haciéndolo.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Los Síntomas del Perfeccionismo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1. Parálisis por Análisis</a:t>
            </a:r>
          </a:p>
          <a:p>
            <a:br/>
            <a:br/>
            <a:pPr>
              <a:defRPr sz="1700" b="1">
                <a:solidFill>
                  <a:srgbClr val="0F0F0F"/>
                </a:solidFill>
                <a:latin typeface="Mulish"/>
              </a:defRPr>
            </a:pPr>
            <a:r>
              <a:t>Postergar decisiones, lanzamientos o publicaciones esperando que esté 'perfecto'.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2. Imposibilidad de Celebrar</a:t>
            </a:r>
          </a:p>
          <a:p>
            <a:br/>
            <a:br/>
            <a:pPr>
              <a:defRPr sz="1700" b="1">
                <a:solidFill>
                  <a:srgbClr val="0F0F0F"/>
                </a:solidFill>
                <a:latin typeface="Mulish"/>
              </a:defRPr>
            </a:pPr>
            <a:r>
              <a:t>Lograr una meta y buscar inmediatamente el error en lugar del triunfo.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200" b="1">
                <a:solidFill>
                  <a:srgbClr val="4C078C"/>
                </a:solidFill>
                <a:latin typeface="Jost"/>
              </a:defRPr>
            </a:pPr>
            <a:r>
              <a:t>3. Pensamiento Todo o Nada</a:t>
            </a:r>
          </a:p>
          <a:p>
            <a:br/>
            <a:br/>
            <a:pPr>
              <a:defRPr sz="1700" b="1">
                <a:solidFill>
                  <a:srgbClr val="0F0F0F"/>
                </a:solidFill>
                <a:latin typeface="Mulish"/>
              </a:defRPr>
            </a:pPr>
            <a:r>
              <a:t>Sentir que si algo no salió al 100% como querías, es un fracaso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Respuestas de tu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000" b="1">
                <a:solidFill>
                  <a:srgbClr val="10B981"/>
                </a:solidFill>
                <a:latin typeface="Jost"/>
              </a:defRPr>
            </a:pPr>
            <a:r>
              <a:t>Perfil A | Acción Expansiva</a:t>
            </a:r>
          </a:p>
          <a:p>
            <a:br/>
            <a:pPr>
              <a:defRPr sz="1550" b="1">
                <a:solidFill>
                  <a:srgbClr val="0F0F0F"/>
                </a:solidFill>
                <a:latin typeface="Mulish"/>
              </a:defRPr>
            </a:pPr>
            <a:r>
              <a:t>Accionas al 80%. Entiendes que el error es solo información para corregir. Tu paz proviene de no apegar tu valor al resultado.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000" b="1">
                <a:solidFill>
                  <a:srgbClr val="F59E0B"/>
                </a:solidFill>
                <a:latin typeface="Jost"/>
              </a:defRPr>
            </a:pPr>
            <a:r>
              <a:t>Perfil B | Perfeccionismo Solapado</a:t>
            </a:r>
          </a:p>
          <a:p>
            <a:br/>
            <a:pPr>
              <a:defRPr sz="1550" b="1">
                <a:solidFill>
                  <a:srgbClr val="0F0F0F"/>
                </a:solidFill>
                <a:latin typeface="Mulish"/>
              </a:defRPr>
            </a:pPr>
            <a:r>
              <a:t>Te convences de que 'estás en paz', pero en la práctica retiraste tu vulnerabilidad para no arriesgarte a fallar.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000" b="1">
                <a:solidFill>
                  <a:srgbClr val="F97316"/>
                </a:solidFill>
                <a:latin typeface="Jost"/>
              </a:defRPr>
            </a:pPr>
            <a:r>
              <a:t>Perfil C | Perfeccionismo Evidente</a:t>
            </a:r>
          </a:p>
          <a:p>
            <a:br/>
            <a:pPr>
              <a:defRPr sz="1550" b="1">
                <a:solidFill>
                  <a:srgbClr val="0F0F0F"/>
                </a:solidFill>
                <a:latin typeface="Mulish"/>
              </a:defRPr>
            </a:pPr>
            <a:r>
              <a:t>Operas desde el hiper-esfuerzo y sobre-control. Crees que revisando todo 20 veces estarás a salvo de las críticas.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000" b="1">
                <a:solidFill>
                  <a:srgbClr val="E11D48"/>
                </a:solidFill>
                <a:latin typeface="Jost"/>
              </a:defRPr>
            </a:pPr>
            <a:r>
              <a:t>Perfil D | Parálisis por Juicio</a:t>
            </a:r>
          </a:p>
          <a:p>
            <a:br/>
            <a:pPr>
              <a:defRPr sz="1550" b="1">
                <a:solidFill>
                  <a:srgbClr val="0F0F0F"/>
                </a:solidFill>
                <a:latin typeface="Mulish"/>
              </a:defRPr>
            </a:pPr>
            <a:r>
              <a:t>El miedo a la vergüenza es tan alto que prefieres dejar tus proyectos guardados en borrador antes que mostrarlos.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Para terminar con el perfeccionismo...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F5EEFC"/>
          </a:solidFill>
          <a:ln w="2540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0"/>
          <a:lstStyle/>
          <a:p>
            <a:pPr algn="ctr">
              <a:defRPr sz="3800" b="1">
                <a:solidFill>
                  <a:srgbClr val="4C078C"/>
                </a:solidFill>
                <a:latin typeface="Jost"/>
              </a:defRPr>
            </a:pPr>
            <a:r>
              <a:t>Ejercicio de Integración y Cierre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62895" cy="4754880"/>
          </a:xfrm>
          <a:prstGeom prst="roundRect">
            <a:avLst/>
          </a:prstGeom>
          <a:solidFill>
            <a:srgbClr val="F5EEFC"/>
          </a:solidFill>
          <a:ln w="2540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1097280"/>
          <a:lstStyle/>
          <a:p>
            <a:pPr algn="ctr">
              <a:defRPr sz="3000" b="1">
                <a:solidFill>
                  <a:srgbClr val="4C078C"/>
                </a:solidFill>
                <a:latin typeface="Jost"/>
              </a:defRPr>
            </a:pPr>
            <a:r>
              <a:t>"La excelencia no es un acto, es un hábito. No busques la perfección, busca la maestría en el presente."</a:t>
            </a:r>
          </a:p>
          <a:p>
            <a:br/>
            <a:br/>
            <a:pPr algn="ctr">
              <a:defRPr sz="2200" b="1">
                <a:solidFill>
                  <a:srgbClr val="0F0F0F"/>
                </a:solidFill>
                <a:latin typeface="Mulish"/>
              </a:defRPr>
            </a:pPr>
            <a:r>
              <a:t>- ARISTÓTELES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Estar en el Presente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77295" cy="2011680"/>
          </a:xfrm>
          <a:prstGeom prst="roundRect">
            <a:avLst/>
          </a:prstGeom>
          <a:solidFill>
            <a:srgbClr val="F5EEFC"/>
          </a:solidFill>
          <a:ln w="1905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/>
          <a:lstStyle/>
          <a:p>
            <a:pPr algn="ctr">
              <a:defRPr sz="2800" b="1">
                <a:solidFill>
                  <a:srgbClr val="4C078C"/>
                </a:solidFill>
                <a:latin typeface="Jost"/>
              </a:defRPr>
            </a:pPr>
            <a:r>
              <a:t>"Estar en el presente es conectar pensamiento y acción al unísono."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11277295" cy="20116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defRPr sz="2200" b="1">
                <a:solidFill>
                  <a:srgbClr val="0F0F0F"/>
                </a:solidFill>
                <a:latin typeface="Jost"/>
              </a:defRPr>
            </a:pPr>
            <a:r>
              <a:t>El Ancla del Presente: Los 5 Sentidos</a:t>
            </a:r>
          </a:p>
          <a:p>
            <a:br/>
            <a:pPr algn="ctr">
              <a:defRPr sz="2600" b="1">
                <a:solidFill>
                  <a:srgbClr val="4C078C"/>
                </a:solidFill>
                <a:latin typeface="Jost"/>
              </a:defRPr>
            </a:pPr>
            <a:r>
              <a:t>Vista  •  Oído  •  Olfato  •  Gusto  •  Tacto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Ejercicios para estar en el presente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0"/>
          <a:lstStyle/>
          <a:p>
            <a:pPr algn="ctr">
              <a:defRPr sz="3800" b="1">
                <a:solidFill>
                  <a:srgbClr val="4C078C"/>
                </a:solidFill>
                <a:latin typeface="Jost"/>
              </a:defRPr>
            </a:pPr>
            <a:r>
              <a:t>Ejercicios para estar en el presente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Tu Visión a 6 Meses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4389120"/>
          </a:xfrm>
          <a:prstGeom prst="roundRect">
            <a:avLst/>
          </a:prstGeom>
          <a:solidFill>
            <a:srgbClr val="F5EEFC"/>
          </a:solidFill>
          <a:ln w="2540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0"/>
          <a:lstStyle/>
          <a:p>
            <a:pPr algn="ctr">
              <a:defRPr sz="3400" b="1">
                <a:solidFill>
                  <a:srgbClr val="4C078C"/>
                </a:solidFill>
                <a:latin typeface="Jost"/>
              </a:defRPr>
            </a:pPr>
            <a:r>
              <a:t>"En 6 meses puedes cambiar tu vida completamente."</a:t>
            </a:r>
          </a:p>
          <a:p>
            <a:br/>
            <a:br/>
            <a:pPr algn="ctr">
              <a:defRPr sz="2200" b="1">
                <a:solidFill>
                  <a:srgbClr val="0F0F0F"/>
                </a:solidFill>
                <a:latin typeface="Mulish"/>
              </a:defRPr>
            </a:pPr>
            <a:r>
              <a:t>En 6 meses de enfoque sostenido, tu mente, tus hábitos y tu realidad pueden ser totalmente irreconocibles.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C078C"/>
                </a:solidFill>
                <a:latin typeface="Jost"/>
              </a:defRPr>
            </a:pPr>
            <a:r>
              <a:t>Estructurando tu Cambio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5661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4C078C"/>
                </a:solidFill>
                <a:latin typeface="Jost"/>
              </a:defRPr>
            </a:pPr>
            <a:r>
              <a:t>1. ¿Quién quieres ser?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Tu nueva identidad, actitud, postura y energía mental a 6 meses.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5661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4C078C"/>
                </a:solidFill>
                <a:latin typeface="Jost"/>
              </a:defRPr>
            </a:pPr>
            <a:r>
              <a:t>2. ¿Qué has logrado?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La visión clara de tus resultados tangibles a 6 meses.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5661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4C078C"/>
                </a:solidFill>
                <a:latin typeface="Jost"/>
              </a:defRPr>
            </a:pPr>
            <a:r>
              <a:t>3. ¿Qué cambias HOY?</a:t>
            </a:r>
          </a:p>
          <a:p>
            <a:br/>
            <a:pPr>
              <a:defRPr sz="1600" b="1">
                <a:solidFill>
                  <a:srgbClr val="0F0F0F"/>
                </a:solidFill>
                <a:latin typeface="Mulish"/>
              </a:defRPr>
            </a:pPr>
            <a:r>
              <a:t>El patrón o hábito específico que se rompe ahora mismo.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11277295" cy="1005840"/>
          </a:xfrm>
          <a:prstGeom prst="roundRect">
            <a:avLst/>
          </a:prstGeom>
          <a:solidFill>
            <a:srgbClr val="F5EEFC"/>
          </a:solidFill>
          <a:ln w="1905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2000" b="1">
                <a:solidFill>
                  <a:srgbClr val="4C078C"/>
                </a:solidFill>
                <a:latin typeface="Jost"/>
              </a:defRPr>
            </a:pPr>
            <a:r>
              <a:t>Tu tarea: Traer estas 3 respuestas listas a tu Sesión de Diagnóstico.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62895" cy="4754880"/>
          </a:xfrm>
          <a:prstGeom prst="roundRect">
            <a:avLst/>
          </a:prstGeom>
          <a:solidFill>
            <a:srgbClr val="F5EEFC"/>
          </a:solidFill>
          <a:ln w="2540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1097280"/>
          <a:lstStyle/>
          <a:p>
            <a:pPr algn="ctr">
              <a:defRPr sz="3000" b="1">
                <a:solidFill>
                  <a:srgbClr val="4C078C"/>
                </a:solidFill>
                <a:latin typeface="Jost"/>
              </a:defRPr>
            </a:pPr>
            <a:r>
              <a:t>"El secreto del cambio es enfocar toda tu energía no en luchar contra lo viejo, sino en construir lo nuevo."</a:t>
            </a:r>
          </a:p>
          <a:p>
            <a:br/>
            <a:br/>
            <a:pPr algn="ctr">
              <a:defRPr sz="2200" b="1">
                <a:solidFill>
                  <a:srgbClr val="0F0F0F"/>
                </a:solidFill>
                <a:latin typeface="Mulish"/>
              </a:defRPr>
            </a:pPr>
            <a:r>
              <a:t>- SÓCRATES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solidFill>
            <a:srgbClr val="F5EEFC"/>
          </a:solidFill>
          <a:ln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4C078C"/>
                </a:solidFill>
                <a:latin typeface="Jost"/>
              </a:defRPr>
            </a:pPr>
            <a:r>
              <a:t>REALMENTE CLUB  •  MARBELIS MONTERO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62895" cy="4754880"/>
          </a:xfrm>
          <a:prstGeom prst="roundRect">
            <a:avLst/>
          </a:prstGeom>
          <a:solidFill>
            <a:srgbClr val="F5EEFC"/>
          </a:solidFill>
          <a:ln w="25400">
            <a:solidFill>
              <a:srgbClr val="4C0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1800" b="1">
                <a:solidFill>
                  <a:srgbClr val="4C078C"/>
                </a:solidFill>
                <a:latin typeface="Jost"/>
              </a:defRPr>
            </a:pPr>
            <a:r>
              <a:t>FIN DE LA CLASE TEÓRICA</a:t>
            </a:r>
          </a:p>
          <a:p>
            <a:br/>
            <a:pPr algn="ctr">
              <a:defRPr sz="2600" b="1">
                <a:solidFill>
                  <a:srgbClr val="4C078C"/>
                </a:solidFill>
                <a:latin typeface="Jost"/>
              </a:defRPr>
            </a:pPr>
            <a:r>
              <a:t>Entramos a la parte más potente: La Intervención en Vivo.</a:t>
            </a:r>
          </a:p>
          <a:p>
            <a:br/>
            <a:pPr algn="ctr">
              <a:defRPr sz="1800" b="1">
                <a:solidFill>
                  <a:srgbClr val="0F0F0F"/>
                </a:solidFill>
                <a:latin typeface="Mulish"/>
              </a:defRPr>
            </a:pPr>
            <a:r>
              <a:t>Apagamos cámaras de grabación y abrimos micrófonos.</a:t>
            </a:r>
            <a:br/>
            <a:r>
              <a:t>Espacio de contención, preguntas y feedback directo (Exclusivo para las presentes).</a:t>
            </a:r>
          </a:p>
          <a:p>
            <a:br/>
            <a:pPr algn="ctr">
              <a:defRPr sz="2200" b="1">
                <a:solidFill>
                  <a:srgbClr val="A669DA"/>
                </a:solidFill>
                <a:latin typeface="Jost"/>
              </a:defRPr>
            </a:pPr>
            <a:r>
              <a:t>No te pierdas el próximo en vivo. La magia real ocurre aquí.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